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9144000"/>
  <p:embeddedFontLst>
    <p:embeddedFont>
      <p:font typeface="Work Sans"/>
      <p:bold r:id="rId27"/>
      <p:boldItalic r:id="rId28"/>
    </p:embeddedFont>
    <p:embeddedFont>
      <p:font typeface="Work Sans Light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840"/>
        <p:guide pos="18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WorkSans-boldItalic.fntdata"/><Relationship Id="rId27" Type="http://schemas.openxmlformats.org/officeDocument/2006/relationships/font" Target="fonts/Work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WorkSansLigh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WorkSansLight-italic.fntdata"/><Relationship Id="rId30" Type="http://schemas.openxmlformats.org/officeDocument/2006/relationships/font" Target="fonts/WorkSansLight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WorkSansLigh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CRISPOCA</a:t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ee482f6d0_0_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/>
              <a:t>CRISPOCA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aee482f6d0_0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ee482f6d0_0_1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CAUSIL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aee482f6d0_0_1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4b58f33ae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CRISPOCA</a:t>
            </a:r>
            <a:endParaRPr/>
          </a:p>
        </p:txBody>
      </p:sp>
      <p:sp>
        <p:nvSpPr>
          <p:cNvPr id="110" name="Google Shape;110;g364b58f33ae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1333c1e6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CRISPOCA</a:t>
            </a:r>
            <a:endParaRPr/>
          </a:p>
        </p:txBody>
      </p:sp>
      <p:sp>
        <p:nvSpPr>
          <p:cNvPr id="116" name="Google Shape;116;g391333c1e6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1333c1e61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CRISPOCA</a:t>
            </a:r>
            <a:endParaRPr/>
          </a:p>
        </p:txBody>
      </p:sp>
      <p:sp>
        <p:nvSpPr>
          <p:cNvPr id="122" name="Google Shape;122;g391333c1e61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1333c1e61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CRISPOCA</a:t>
            </a:r>
            <a:endParaRPr/>
          </a:p>
        </p:txBody>
      </p:sp>
      <p:sp>
        <p:nvSpPr>
          <p:cNvPr id="128" name="Google Shape;128;g391333c1e61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1333c1e61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CRISPOCA</a:t>
            </a:r>
            <a:endParaRPr/>
          </a:p>
        </p:txBody>
      </p:sp>
      <p:sp>
        <p:nvSpPr>
          <p:cNvPr id="134" name="Google Shape;134;g391333c1e61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1333c1e61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CAUSIL</a:t>
            </a:r>
            <a:endParaRPr/>
          </a:p>
        </p:txBody>
      </p:sp>
      <p:sp>
        <p:nvSpPr>
          <p:cNvPr id="140" name="Google Shape;140;g391333c1e61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/>
              <a:t>CAUSIL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1333c1e61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/>
              <a:t>Carlos</a:t>
            </a:r>
            <a:endParaRPr/>
          </a:p>
        </p:txBody>
      </p:sp>
      <p:sp>
        <p:nvSpPr>
          <p:cNvPr id="152" name="Google Shape;152;g391333c1e61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1333c1e61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CARLOS</a:t>
            </a:r>
            <a:endParaRPr/>
          </a:p>
        </p:txBody>
      </p:sp>
      <p:sp>
        <p:nvSpPr>
          <p:cNvPr id="158" name="Google Shape;158;g391333c1e61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1ab02998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/>
              <a:t>CARLOS Y BREINER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81ab02998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1333c1e61_0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CAUSIL</a:t>
            </a:r>
            <a:endParaRPr/>
          </a:p>
        </p:txBody>
      </p:sp>
      <p:sp>
        <p:nvSpPr>
          <p:cNvPr id="170" name="Google Shape;170;g391333c1e61_0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64837a237e_0_1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CAUSIL</a:t>
            </a:r>
            <a:endParaRPr/>
          </a:p>
        </p:txBody>
      </p:sp>
      <p:sp>
        <p:nvSpPr>
          <p:cNvPr id="176" name="Google Shape;176;g364837a237e_0_1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1333c1e61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CARLOS</a:t>
            </a:r>
            <a:endParaRPr/>
          </a:p>
        </p:txBody>
      </p:sp>
      <p:sp>
        <p:nvSpPr>
          <p:cNvPr id="182" name="Google Shape;182;g391333c1e61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1ab029980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CARLOS</a:t>
            </a:r>
            <a:endParaRPr/>
          </a:p>
        </p:txBody>
      </p:sp>
      <p:sp>
        <p:nvSpPr>
          <p:cNvPr id="188" name="Google Shape;188;g381ab029980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1333c1e61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CARLOS</a:t>
            </a:r>
            <a:endParaRPr/>
          </a:p>
        </p:txBody>
      </p:sp>
      <p:sp>
        <p:nvSpPr>
          <p:cNvPr id="193" name="Google Shape;193;g391333c1e61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81ab029980_0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/>
              <a:t>CARLOS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81ab029980_0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66533432db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CAUSIL</a:t>
            </a:r>
            <a:endParaRPr/>
          </a:p>
        </p:txBody>
      </p:sp>
      <p:sp>
        <p:nvSpPr>
          <p:cNvPr id="204" name="Google Shape;204;g366533432db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hyperlink" Target="https://docs.google.com/spreadsheets/d/1cNLehl-GD7C0rzt03JF7WXo9x0YhvRBe/edit?usp=drive_link&amp;ouid=112833154241403323616&amp;rtpof=true&amp;sd=tru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hyperlink" Target="https://docs.google.com/document/d/1icSL_e-AvBJbfgywzw3F8Pj5HnYfaj_B/edit?usp=drive_link&amp;ouid=112833154241403323616&amp;rtpof=true&amp;sd=true" TargetMode="External"/><Relationship Id="rId6" Type="http://schemas.openxmlformats.org/officeDocument/2006/relationships/hyperlink" Target="https://docs.google.com/document/d/1icSL_e-AvBJbfgywzw3F8Pj5HnYfaj_B/edit?usp=drive_link&amp;ouid=112833154241403323616&amp;rtpof=true&amp;sd=true" TargetMode="External"/><Relationship Id="rId7" Type="http://schemas.openxmlformats.org/officeDocument/2006/relationships/hyperlink" Target="https://docs.google.com/document/d/1icSL_e-AvBJbfgywzw3F8Pj5HnYfaj_B/edit?usp=drive_link&amp;ouid=112833154241403323616&amp;rtpof=true&amp;sd=true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hyperlink" Target="https://docs.google.com/spreadsheets/d/1n-ffltki1UsFZPxUpxlggPrthR2ji8n2/edit?usp=drive_link&amp;ouid=112833154241403323616&amp;rtpof=true&amp;sd=true" TargetMode="External"/><Relationship Id="rId6" Type="http://schemas.openxmlformats.org/officeDocument/2006/relationships/hyperlink" Target="https://docs.google.com/spreadsheets/d/1n-ffltki1UsFZPxUpxlggPrthR2ji8n2/edit?usp=drive_link&amp;ouid=112833154241403323616&amp;rtpof=true&amp;sd=true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hyperlink" Target="https://docs.google.com/document/d/1FXxycc5uOBu8Z83JxgItsW31CkaxR0AgOnb-kTwjgRM/edit?usp=drive_link" TargetMode="External"/><Relationship Id="rId5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Relationship Id="rId5" Type="http://schemas.openxmlformats.org/officeDocument/2006/relationships/hyperlink" Target="https://github.com/carlos-code44/HabitApp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963672" y="2551837"/>
            <a:ext cx="6453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rPr b="1" lang="es-CO" sz="5400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HabitApp</a:t>
            </a:r>
            <a:endParaRPr b="1" sz="5400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/>
        </p:nvSpPr>
        <p:spPr>
          <a:xfrm>
            <a:off x="2849395" y="2238950"/>
            <a:ext cx="6493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lang="es-CO" sz="60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b="1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99" name="Google Shape;99;p15"/>
          <p:cNvCxnSpPr/>
          <p:nvPr/>
        </p:nvCxnSpPr>
        <p:spPr>
          <a:xfrm>
            <a:off x="4972228" y="3324314"/>
            <a:ext cx="2247600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" name="Google Shape;100;p15"/>
          <p:cNvSpPr txBox="1"/>
          <p:nvPr/>
        </p:nvSpPr>
        <p:spPr>
          <a:xfrm>
            <a:off x="1225050" y="3500675"/>
            <a:ext cx="9741900" cy="14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8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1700">
                <a:solidFill>
                  <a:schemeClr val="dk1"/>
                </a:solidFill>
                <a:highlight>
                  <a:srgbClr val="FFFFFF"/>
                </a:highlight>
              </a:rPr>
              <a:t>Desarrollar un sistema de información que ayude a gestionar, organizar y presentar datos sobre hábitos saludables, con el objetivo de que los usuarios tomen decisiones informadas sobre un estilo de vida más saludable, motivando a los usuarios a que hagan actividades que mejoren su bienestar y prevengan enfermedades.</a:t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/>
        </p:nvSpPr>
        <p:spPr>
          <a:xfrm>
            <a:off x="860875" y="558625"/>
            <a:ext cx="3039900" cy="13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Objetivos específicos</a:t>
            </a:r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860875" y="1631350"/>
            <a:ext cx="6282900" cy="44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s-CO" sz="1600">
                <a:solidFill>
                  <a:schemeClr val="dk1"/>
                </a:solidFill>
              </a:rPr>
              <a:t>Administrar la información de los usuarios a través de un sistema que les permita la creación de perfiles, la asignación de roles y el control de datos personales, ayudando a dar protección, privacidad y un acceso seguro a la plataforma.</a:t>
            </a:r>
            <a:br>
              <a:rPr lang="es-CO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s-CO" sz="1600">
                <a:solidFill>
                  <a:schemeClr val="dk1"/>
                </a:solidFill>
              </a:rPr>
              <a:t>Gestionar herramientas para el seguimiento de hábitos saludables que incluyan el registro de actividades diarias como hacer ejercicio, buena alimentación y buen descanso.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s-CO" sz="1600">
                <a:solidFill>
                  <a:schemeClr val="dk1"/>
                </a:solidFill>
              </a:rPr>
              <a:t>Generar reportes detallados y personalizados que permitan a cada usuario revisar sus avances, identificar áreas de mejora y contar con un historial de seguimiento.</a:t>
            </a:r>
            <a:br>
              <a:rPr lang="es-CO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s-CO" sz="1600">
                <a:solidFill>
                  <a:schemeClr val="dk1"/>
                </a:solidFill>
              </a:rPr>
              <a:t>Facilitar la</a:t>
            </a:r>
            <a:r>
              <a:rPr lang="es-CO" sz="1600">
                <a:solidFill>
                  <a:schemeClr val="dk1"/>
                </a:solidFill>
              </a:rPr>
              <a:t> interacción y el compromiso entre los usuarios con la creación de una comunidad con foros, chats y actividades, que cuente con un sistema de puntos, logros y un ranking para motivar a los usuarios a tener hábitos más saludables.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07" name="Google Shape;107;p16"/>
          <p:cNvPicPr preferRelativeResize="0"/>
          <p:nvPr/>
        </p:nvPicPr>
        <p:blipFill rotWithShape="1">
          <a:blip r:embed="rId4">
            <a:alphaModFix/>
          </a:blip>
          <a:srcRect b="0" l="36306" r="12722" t="0"/>
          <a:stretch/>
        </p:blipFill>
        <p:spPr>
          <a:xfrm>
            <a:off x="7651750" y="1420825"/>
            <a:ext cx="4191000" cy="504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9550" y="152400"/>
            <a:ext cx="5130030" cy="6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 txBox="1"/>
          <p:nvPr/>
        </p:nvSpPr>
        <p:spPr>
          <a:xfrm>
            <a:off x="7358375" y="3154200"/>
            <a:ext cx="3149400" cy="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Anexos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/>
        </p:nvSpPr>
        <p:spPr>
          <a:xfrm>
            <a:off x="2957416" y="2342200"/>
            <a:ext cx="61119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lang="es-CO" sz="60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Diagramas de casos de uso</a:t>
            </a:r>
            <a:endParaRPr b="1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19" name="Google Shape;119;p18"/>
          <p:cNvCxnSpPr/>
          <p:nvPr/>
        </p:nvCxnSpPr>
        <p:spPr>
          <a:xfrm>
            <a:off x="4931005" y="4515808"/>
            <a:ext cx="22476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Diagrama primer </a:t>
            </a:r>
            <a:r>
              <a:rPr b="1" lang="es-CO" sz="36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módulo</a:t>
            </a:r>
            <a:endParaRPr/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1000" y="1414750"/>
            <a:ext cx="8029999" cy="530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Diagrama segundo módulo</a:t>
            </a:r>
            <a:endParaRPr/>
          </a:p>
        </p:txBody>
      </p:sp>
      <p:pic>
        <p:nvPicPr>
          <p:cNvPr id="131" name="Google Shape;13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0287" y="1295325"/>
            <a:ext cx="7551426" cy="545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Diagrama tercer módulo</a:t>
            </a:r>
            <a:endParaRPr/>
          </a:p>
        </p:txBody>
      </p:sp>
      <p:pic>
        <p:nvPicPr>
          <p:cNvPr id="137" name="Google Shape;13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3612" y="1332150"/>
            <a:ext cx="7684776" cy="546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/>
        </p:nvSpPr>
        <p:spPr>
          <a:xfrm>
            <a:off x="2582701" y="2369750"/>
            <a:ext cx="70266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lang="es-CO" sz="60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Descripciones de casos de uso</a:t>
            </a:r>
            <a:endParaRPr b="1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43" name="Google Shape;143;p22"/>
          <p:cNvCxnSpPr/>
          <p:nvPr/>
        </p:nvCxnSpPr>
        <p:spPr>
          <a:xfrm>
            <a:off x="4931005" y="4515808"/>
            <a:ext cx="22476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500" y="152400"/>
            <a:ext cx="6051214" cy="6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3"/>
          <p:cNvSpPr txBox="1"/>
          <p:nvPr/>
        </p:nvSpPr>
        <p:spPr>
          <a:xfrm>
            <a:off x="7257375" y="2905650"/>
            <a:ext cx="4351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Documento de </a:t>
            </a:r>
            <a:r>
              <a:rPr lang="es-CO" sz="2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Descripción</a:t>
            </a:r>
            <a:r>
              <a:rPr lang="es-CO" sz="2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 de Casos de Uso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Diagrama Modelo Entidad-Relación</a:t>
            </a:r>
            <a:endParaRPr/>
          </a:p>
        </p:txBody>
      </p:sp>
      <p:pic>
        <p:nvPicPr>
          <p:cNvPr id="155" name="Google Shape;15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2775" y="1341300"/>
            <a:ext cx="10026451" cy="5426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/>
        </p:nvSpPr>
        <p:spPr>
          <a:xfrm>
            <a:off x="2582701" y="2369750"/>
            <a:ext cx="70266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lang="es-CO" sz="60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Modelo Relacional</a:t>
            </a:r>
            <a:endParaRPr b="1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61" name="Google Shape;161;p25"/>
          <p:cNvCxnSpPr/>
          <p:nvPr/>
        </p:nvCxnSpPr>
        <p:spPr>
          <a:xfrm>
            <a:off x="4931005" y="4515808"/>
            <a:ext cx="22476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3275" y="108150"/>
            <a:ext cx="8485450" cy="608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6"/>
          <p:cNvSpPr txBox="1"/>
          <p:nvPr/>
        </p:nvSpPr>
        <p:spPr>
          <a:xfrm>
            <a:off x="2267700" y="6141900"/>
            <a:ext cx="765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Normalización</a:t>
            </a:r>
            <a:r>
              <a:rPr lang="es-CO" sz="2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 del Modelo Relacional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/>
        </p:nvSpPr>
        <p:spPr>
          <a:xfrm>
            <a:off x="2541501" y="2459250"/>
            <a:ext cx="70266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lang="es-CO" sz="60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Diccionario de Datos</a:t>
            </a:r>
            <a:endParaRPr b="1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73" name="Google Shape;173;p27"/>
          <p:cNvCxnSpPr/>
          <p:nvPr/>
        </p:nvCxnSpPr>
        <p:spPr>
          <a:xfrm>
            <a:off x="4931005" y="4515808"/>
            <a:ext cx="22476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/>
          <p:nvPr/>
        </p:nvSpPr>
        <p:spPr>
          <a:xfrm>
            <a:off x="2170500" y="507150"/>
            <a:ext cx="785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lang="es-CO" sz="2400" u="sng">
                <a:solidFill>
                  <a:schemeClr val="hlink"/>
                </a:solidFill>
                <a:latin typeface="Work Sans"/>
                <a:ea typeface="Work Sans"/>
                <a:cs typeface="Work Sans"/>
                <a:sym typeface="Work Sans"/>
                <a:hlinkClick r:id="rId4"/>
              </a:rPr>
              <a:t>Diccionario de datos</a:t>
            </a:r>
            <a:endParaRPr b="1" sz="2400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79" name="Google Shape;17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0550" y="1057250"/>
            <a:ext cx="10850909" cy="5559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/>
          <p:nvPr/>
        </p:nvSpPr>
        <p:spPr>
          <a:xfrm>
            <a:off x="2541501" y="2459250"/>
            <a:ext cx="70266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lang="es-CO" sz="60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Diagrama de Clases</a:t>
            </a:r>
            <a:endParaRPr b="1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85" name="Google Shape;185;p29"/>
          <p:cNvCxnSpPr/>
          <p:nvPr/>
        </p:nvCxnSpPr>
        <p:spPr>
          <a:xfrm>
            <a:off x="4931005" y="4515808"/>
            <a:ext cx="22476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5388" y="528638"/>
            <a:ext cx="9801225" cy="580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/>
        </p:nvSpPr>
        <p:spPr>
          <a:xfrm>
            <a:off x="2541501" y="2459250"/>
            <a:ext cx="70266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lang="es-CO" sz="60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Diagrama de Despliegue</a:t>
            </a:r>
            <a:endParaRPr b="1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96" name="Google Shape;196;p31"/>
          <p:cNvCxnSpPr/>
          <p:nvPr/>
        </p:nvCxnSpPr>
        <p:spPr>
          <a:xfrm>
            <a:off x="4931005" y="4515808"/>
            <a:ext cx="22476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2288" y="489325"/>
            <a:ext cx="10027426" cy="5879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/>
          <p:nvPr/>
        </p:nvSpPr>
        <p:spPr>
          <a:xfrm>
            <a:off x="2987100" y="608850"/>
            <a:ext cx="6217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5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de versiones</a:t>
            </a:r>
            <a:endParaRPr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3537" y="1655550"/>
            <a:ext cx="7504924" cy="395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3"/>
          <p:cNvSpPr txBox="1"/>
          <p:nvPr/>
        </p:nvSpPr>
        <p:spPr>
          <a:xfrm>
            <a:off x="4347000" y="5742550"/>
            <a:ext cx="3498000" cy="7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Repositorio de GitHub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